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Relationship Id="rId18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566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22960" y="822960"/>
            <a:ext cx="1188720" cy="11887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3"/>
          <p:cNvSpPr txBox="1"/>
          <p:nvPr/>
        </p:nvSpPr>
        <p:spPr>
          <a:xfrm>
            <a:off x="822960" y="822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pt-BR" sz="4800" dirty="0"/>
          </a:p>
        </p:txBody>
      </p:sp>
      <p:sp>
        <p:nvSpPr>
          <p:cNvPr id="4" name="Text 4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SERVICE PARKING</a:t>
            </a:r>
            <a:endParaRPr lang="pt-BR" sz="4400" dirty="0"/>
          </a:p>
        </p:txBody>
      </p:sp>
      <p:sp>
        <p:nvSpPr>
          <p:cNvPr id="5" name="Text 5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0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Estacionamento</a:t>
            </a:r>
            <a:endParaRPr lang="pt-BR" sz="2000" dirty="0"/>
          </a:p>
        </p:txBody>
      </p:sp>
      <p:sp>
        <p:nvSpPr>
          <p:cNvPr id="6" name="Line 6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7"/>
          <p:cNvSpPr/>
          <p:nvPr/>
        </p:nvSpPr>
        <p:spPr>
          <a:xfrm>
            <a:off x="822960" y="4160520"/>
            <a:ext cx="3400000" cy="384048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8"/>
          <p:cNvSpPr txBox="1"/>
          <p:nvPr/>
        </p:nvSpPr>
        <p:spPr>
          <a:xfrm>
            <a:off x="822960" y="4160520"/>
            <a:ext cx="34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(MVP) CONCLUÍDA — ENTREGA N2</a:t>
            </a:r>
            <a:endParaRPr lang="pt-BR" sz="950" dirty="0"/>
          </a:p>
        </p:txBody>
      </p:sp>
      <p:sp>
        <p:nvSpPr>
          <p:cNvPr id="9" name="Text 9"/>
          <p:cNvSpPr txBox="1"/>
          <p:nvPr/>
        </p:nvSpPr>
        <p:spPr>
          <a:xfrm>
            <a:off x="822960" y="6100000"/>
            <a:ext cx="96012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13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Vinicius da Silva Zacchi</a:t>
            </a:r>
            <a:endParaRPr lang="pt-BR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pt-BR" sz="13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Carlos Farias</a:t>
            </a:r>
            <a:endParaRPr lang="pt-B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PROJETO</a:t>
            </a:r>
            <a:endParaRPr lang="pt-BR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Estamos: Fase 1 (MVP) Concluída</a:t>
            </a:r>
            <a:endParaRPr lang="pt-BR" sz="3000" dirty="0"/>
          </a:p>
        </p:txBody>
      </p:sp>
      <p:sp>
        <p:nvSpPr>
          <p:cNvPr id="90" name="Text 90"/>
          <p:cNvSpPr txBox="1"/>
          <p:nvPr/>
        </p:nvSpPr>
        <p:spPr>
          <a:xfrm>
            <a:off x="457200" y="6473952"/>
            <a:ext cx="5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Service Parking</a:t>
            </a:r>
            <a:endParaRPr lang="pt-BR" sz="900" dirty="0"/>
          </a:p>
        </p:txBody>
      </p:sp>
      <p:sp>
        <p:nvSpPr>
          <p:cNvPr id="91" name="Text 9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9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N1 estávamos construindo o MVP. Agora na N2, todo o sistema principal está pronto, rodando e refatorado com S.O.L.I.D.</a:t>
            </a:r>
            <a:endParaRPr lang="pt-BR" sz="1300" dirty="0"/>
          </a:p>
        </p:txBody>
      </p:sp>
      <p:sp>
        <p:nvSpPr>
          <p:cNvPr id="5" name="Shape 5"/>
          <p:cNvSpPr/>
          <p:nvPr/>
        </p:nvSpPr>
        <p:spPr>
          <a:xfrm>
            <a:off x="548640" y="18288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6"/>
          <p:cNvSpPr/>
          <p:nvPr/>
        </p:nvSpPr>
        <p:spPr>
          <a:xfrm>
            <a:off x="868680" y="2084832"/>
            <a:ext cx="2100000" cy="365760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7"/>
          <p:cNvSpPr txBox="1"/>
          <p:nvPr/>
        </p:nvSpPr>
        <p:spPr>
          <a:xfrm>
            <a:off x="868680" y="2084832"/>
            <a:ext cx="21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PRONTO NA N2</a:t>
            </a:r>
            <a:endParaRPr lang="pt-BR" sz="1000" dirty="0"/>
          </a:p>
        </p:txBody>
      </p:sp>
      <p:sp>
        <p:nvSpPr>
          <p:cNvPr id="8" name="Text 8"/>
          <p:cNvSpPr txBox="1"/>
          <p:nvPr/>
        </p:nvSpPr>
        <p:spPr>
          <a:xfrm>
            <a:off x="868680" y="26060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— MVP CONCLUÍDO</a:t>
            </a:r>
            <a:endParaRPr lang="pt-BR" sz="1700" dirty="0"/>
          </a:p>
        </p:txBody>
      </p:sp>
      <p:sp>
        <p:nvSpPr>
          <p:cNvPr id="9" name="Text 9"/>
          <p:cNvSpPr txBox="1"/>
          <p:nvPr/>
        </p:nvSpPr>
        <p:spPr>
          <a:xfrm>
            <a:off x="868680" y="30632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i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funcionando ponta a ponta no navegador.</a:t>
            </a:r>
            <a:endParaRPr lang="pt-BR" sz="1200" dirty="0"/>
          </a:p>
        </p:txBody>
      </p:sp>
      <p:sp>
        <p:nvSpPr>
          <p:cNvPr id="10" name="Text 10"/>
          <p:cNvSpPr txBox="1"/>
          <p:nvPr/>
        </p:nvSpPr>
        <p:spPr>
          <a:xfrm>
            <a:off x="868680" y="370332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spcAft>
                <a:spcPts val="700"/>
              </a:spcAft>
              <a:buSzPct val="100000"/>
              <a:buChar char="•"/>
            </a:pPr>
            <a:r>
              <a:rPr lang="pt-BR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perfis de acesso e gestão de usuários</a:t>
            </a:r>
            <a:endParaRPr lang="pt-BR" sz="1250" dirty="0"/>
          </a:p>
          <a:p>
            <a:pPr marL="285750" indent="-285750" algn="l">
              <a:spcAft>
                <a:spcPts val="700"/>
              </a:spcAft>
              <a:buSzPct val="100000"/>
              <a:buChar char="•"/>
            </a:pPr>
            <a:r>
              <a:rPr lang="pt-BR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 saída por placa (rotativo e mensalista)</a:t>
            </a:r>
            <a:endParaRPr lang="pt-BR" sz="1250" dirty="0"/>
          </a:p>
          <a:p>
            <a:pPr marL="285750" indent="-285750" algn="l">
              <a:spcAft>
                <a:spcPts val="700"/>
              </a:spcAft>
              <a:buSzPct val="100000"/>
              <a:buChar char="•"/>
            </a:pPr>
            <a:r>
              <a:rPr lang="pt-BR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de tarifa e carência (10 min)</a:t>
            </a:r>
            <a:endParaRPr lang="pt-BR" sz="1250" dirty="0"/>
          </a:p>
          <a:p>
            <a:pPr marL="285750" indent="-285750" algn="l">
              <a:spcAft>
                <a:spcPts val="700"/>
              </a:spcAft>
              <a:buSzPct val="100000"/>
              <a:buChar char="•"/>
            </a:pPr>
            <a:r>
              <a:rPr lang="pt-BR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em PIX (QR Code), Cartão e Dinheiro</a:t>
            </a:r>
            <a:endParaRPr lang="pt-BR" sz="1250" dirty="0"/>
          </a:p>
          <a:p>
            <a:pPr marL="285750" indent="-285750" algn="l">
              <a:spcAft>
                <a:spcPts val="700"/>
              </a:spcAft>
              <a:buSzPct val="100000"/>
              <a:buChar char="•"/>
            </a:pPr>
            <a:r>
              <a:rPr lang="pt-BR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visual de vagas em 2 andares</a:t>
            </a:r>
            <a:endParaRPr lang="pt-BR" sz="1250" dirty="0"/>
          </a:p>
          <a:p>
            <a:pPr marL="285750" indent="-285750" algn="l">
              <a:spcAft>
                <a:spcPts val="700"/>
              </a:spcAft>
              <a:buSzPct val="100000"/>
              <a:buChar char="•"/>
            </a:pPr>
            <a:r>
              <a:rPr lang="pt-BR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com filtros e exportação PDF / Excel</a:t>
            </a:r>
            <a:endParaRPr lang="pt-BR" sz="1250" dirty="0"/>
          </a:p>
        </p:txBody>
      </p:sp>
      <p:sp>
        <p:nvSpPr>
          <p:cNvPr id="11" name="Shape 11"/>
          <p:cNvSpPr/>
          <p:nvPr/>
        </p:nvSpPr>
        <p:spPr>
          <a:xfrm>
            <a:off x="6263640" y="18288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DCE7EF"/>
          </a:solidFill>
          <a:ln w="12700">
            <a:solidFill>
              <a:srgbClr val="3E6C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2"/>
          <p:cNvSpPr/>
          <p:nvPr/>
        </p:nvSpPr>
        <p:spPr>
          <a:xfrm>
            <a:off x="6583680" y="2084832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6C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3"/>
          <p:cNvSpPr txBox="1"/>
          <p:nvPr/>
        </p:nvSpPr>
        <p:spPr>
          <a:xfrm>
            <a:off x="6583680" y="2084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ETAPA</a:t>
            </a:r>
            <a:endParaRPr lang="pt-BR" sz="950" dirty="0"/>
          </a:p>
        </p:txBody>
      </p:sp>
      <p:sp>
        <p:nvSpPr>
          <p:cNvPr id="14" name="Text 14"/>
          <p:cNvSpPr txBox="1"/>
          <p:nvPr/>
        </p:nvSpPr>
        <p:spPr>
          <a:xfrm>
            <a:off x="6583680" y="26060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— AUTOMAÇÃO IoT</a:t>
            </a:r>
            <a:endParaRPr lang="pt-BR" sz="1700" dirty="0"/>
          </a:p>
        </p:txBody>
      </p:sp>
      <p:sp>
        <p:nvSpPr>
          <p:cNvPr id="15" name="Text 15"/>
          <p:cNvSpPr txBox="1"/>
          <p:nvPr/>
        </p:nvSpPr>
        <p:spPr>
          <a:xfrm>
            <a:off x="6583680" y="30632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já estão prontas para conectar sensores e Arduino.</a:t>
            </a:r>
            <a:endParaRPr lang="pt-BR" sz="1200" dirty="0"/>
          </a:p>
        </p:txBody>
      </p:sp>
      <p:sp>
        <p:nvSpPr>
          <p:cNvPr id="16" name="Text 16"/>
          <p:cNvSpPr txBox="1"/>
          <p:nvPr/>
        </p:nvSpPr>
        <p:spPr>
          <a:xfrm>
            <a:off x="6583680" y="370332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spcAft>
                <a:spcPts val="700"/>
              </a:spcAft>
              <a:buSzPct val="100000"/>
              <a:buChar char="•"/>
            </a:pPr>
            <a:r>
              <a:rPr lang="pt-BR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ultrassônicos em cada vaga</a:t>
            </a:r>
            <a:endParaRPr lang="pt-BR" sz="1250" dirty="0"/>
          </a:p>
          <a:p>
            <a:pPr marL="285750" indent="-285750" algn="l">
              <a:spcAft>
                <a:spcPts val="700"/>
              </a:spcAft>
              <a:buSzPct val="100000"/>
              <a:buChar char="•"/>
            </a:pPr>
            <a:r>
              <a:rPr lang="pt-BR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automática de placa ou cartão RFID</a:t>
            </a:r>
            <a:endParaRPr lang="pt-BR" sz="1250" dirty="0"/>
          </a:p>
          <a:p>
            <a:pPr marL="285750" indent="-285750" algn="l">
              <a:spcAft>
                <a:spcPts val="700"/>
              </a:spcAft>
              <a:buSzPct val="100000"/>
              <a:buChar char="•"/>
            </a:pPr>
            <a:r>
              <a:rPr lang="pt-BR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LED mostrando vagas livres</a:t>
            </a:r>
            <a:endParaRPr lang="pt-BR" sz="1250" dirty="0"/>
          </a:p>
          <a:p>
            <a:pPr marL="285750" indent="-285750" algn="l">
              <a:spcAft>
                <a:spcPts val="700"/>
              </a:spcAft>
              <a:buSzPct val="100000"/>
              <a:buChar char="•"/>
            </a:pPr>
            <a:r>
              <a:rPr lang="pt-BR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automática das cancelas</a:t>
            </a:r>
            <a:endParaRPr lang="pt-BR" sz="1250" dirty="0"/>
          </a:p>
          <a:p>
            <a:pPr marL="285750" indent="-285750" algn="l">
              <a:spcAft>
                <a:spcPts val="700"/>
              </a:spcAft>
              <a:buSzPct val="100000"/>
              <a:buChar char="•"/>
            </a:pPr>
            <a:r>
              <a:rPr lang="pt-BR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direta com o nosso API Gateway</a:t>
            </a:r>
            <a:endParaRPr lang="pt-BR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pt-BR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Sistema em Funcionamento</a:t>
            </a:r>
            <a:endParaRPr lang="pt-BR" sz="3000" dirty="0"/>
          </a:p>
        </p:txBody>
      </p:sp>
      <p:sp>
        <p:nvSpPr>
          <p:cNvPr id="90" name="Text 90"/>
          <p:cNvSpPr txBox="1"/>
          <p:nvPr/>
        </p:nvSpPr>
        <p:spPr>
          <a:xfrm>
            <a:off x="457200" y="6473952"/>
            <a:ext cx="5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Service Parking</a:t>
            </a:r>
            <a:endParaRPr lang="pt-BR" sz="900" dirty="0"/>
          </a:p>
        </p:txBody>
      </p:sp>
      <p:sp>
        <p:nvSpPr>
          <p:cNvPr id="91" name="Text 9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900" dirty="0"/>
          </a:p>
        </p:txBody>
      </p:sp>
      <p:sp>
        <p:nvSpPr>
          <p:cNvPr id="4" name="Shape 4"/>
          <p:cNvSpPr/>
          <p:nvPr/>
        </p:nvSpPr>
        <p:spPr>
          <a:xfrm>
            <a:off x="4718304" y="141732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DCE7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5"/>
          <p:cNvSpPr txBox="1"/>
          <p:nvPr/>
        </p:nvSpPr>
        <p:spPr>
          <a:xfrm>
            <a:off x="4718304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Atendente / Administrador</a:t>
            </a:r>
            <a:endParaRPr lang="pt-BR" sz="1200" dirty="0"/>
          </a:p>
        </p:txBody>
      </p:sp>
      <p:sp>
        <p:nvSpPr>
          <p:cNvPr id="6" name="Line 6"/>
          <p:cNvSpPr/>
          <p:nvPr/>
        </p:nvSpPr>
        <p:spPr>
          <a:xfrm>
            <a:off x="6089904" y="1920240"/>
            <a:ext cx="0" cy="36576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7"/>
          <p:cNvSpPr/>
          <p:nvPr/>
        </p:nvSpPr>
        <p:spPr>
          <a:xfrm>
            <a:off x="4518304" y="2286000"/>
            <a:ext cx="3143200" cy="502920"/>
          </a:xfrm>
          <a:prstGeom prst="roundRect">
            <a:avLst>
              <a:gd name="adj" fmla="val 10909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8"/>
          <p:cNvSpPr txBox="1"/>
          <p:nvPr/>
        </p:nvSpPr>
        <p:spPr>
          <a:xfrm>
            <a:off x="4518304" y="2286000"/>
            <a:ext cx="31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Vue.js (Porta 5173)</a:t>
            </a:r>
            <a:endParaRPr lang="pt-BR" sz="1200" dirty="0"/>
          </a:p>
        </p:txBody>
      </p:sp>
      <p:sp>
        <p:nvSpPr>
          <p:cNvPr id="9" name="Line 9"/>
          <p:cNvSpPr/>
          <p:nvPr/>
        </p:nvSpPr>
        <p:spPr>
          <a:xfrm>
            <a:off x="6089904" y="2788920"/>
            <a:ext cx="0" cy="36576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10"/>
          <p:cNvSpPr/>
          <p:nvPr/>
        </p:nvSpPr>
        <p:spPr>
          <a:xfrm>
            <a:off x="4161104" y="3154680"/>
            <a:ext cx="3857600" cy="502920"/>
          </a:xfrm>
          <a:prstGeom prst="roundRect">
            <a:avLst>
              <a:gd name="adj" fmla="val 10909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11"/>
          <p:cNvSpPr txBox="1"/>
          <p:nvPr/>
        </p:nvSpPr>
        <p:spPr>
          <a:xfrm>
            <a:off x="4161104" y="3154680"/>
            <a:ext cx="38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HTTP / REST (Porta 3000)</a:t>
            </a:r>
            <a:endParaRPr lang="pt-BR" sz="1250" dirty="0"/>
          </a:p>
        </p:txBody>
      </p:sp>
      <p:sp>
        <p:nvSpPr>
          <p:cNvPr id="12" name="Line 12"/>
          <p:cNvSpPr/>
          <p:nvPr/>
        </p:nvSpPr>
        <p:spPr>
          <a:xfrm>
            <a:off x="6089904" y="3657600"/>
            <a:ext cx="0" cy="22860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Line 13"/>
          <p:cNvSpPr/>
          <p:nvPr/>
        </p:nvSpPr>
        <p:spPr>
          <a:xfrm>
            <a:off x="2034540" y="3886200"/>
            <a:ext cx="811987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Line 15"/>
          <p:cNvSpPr/>
          <p:nvPr/>
        </p:nvSpPr>
        <p:spPr>
          <a:xfrm>
            <a:off x="2034540" y="3886200"/>
            <a:ext cx="0" cy="27432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6"/>
          <p:cNvSpPr/>
          <p:nvPr/>
        </p:nvSpPr>
        <p:spPr>
          <a:xfrm>
            <a:off x="1120140" y="41605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7"/>
          <p:cNvSpPr txBox="1"/>
          <p:nvPr/>
        </p:nvSpPr>
        <p:spPr>
          <a:xfrm>
            <a:off x="1165860" y="41879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auth-service</a:t>
            </a:r>
            <a:endParaRPr lang="pt-BR" sz="1050" dirty="0"/>
          </a:p>
          <a:p>
            <a:pPr marL="0" indent="0" algn="ctr">
              <a:buNone/>
            </a:pPr>
            <a:r>
              <a:rPr lang="pt-BR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(:3001)</a:t>
            </a:r>
            <a:endParaRPr lang="pt-BR" sz="1050" dirty="0"/>
          </a:p>
        </p:txBody>
      </p:sp>
      <p:sp>
        <p:nvSpPr>
          <p:cNvPr id="18" name="Text 18"/>
          <p:cNvSpPr txBox="1"/>
          <p:nvPr/>
        </p:nvSpPr>
        <p:spPr>
          <a:xfrm>
            <a:off x="1165860" y="4553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8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usuários</a:t>
            </a:r>
            <a:endParaRPr lang="pt-BR" sz="850" dirty="0"/>
          </a:p>
        </p:txBody>
      </p:sp>
      <p:sp>
        <p:nvSpPr>
          <p:cNvPr id="19" name="Line 19"/>
          <p:cNvSpPr/>
          <p:nvPr/>
        </p:nvSpPr>
        <p:spPr>
          <a:xfrm>
            <a:off x="2034540" y="4846320"/>
            <a:ext cx="0" cy="228600"/>
          </a:xfrm>
          <a:prstGeom prst="line">
            <a:avLst/>
          </a:prstGeom>
          <a:noFill/>
          <a:ln w="15875">
            <a:solidFill>
              <a:srgbClr val="8A93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20"/>
          <p:cNvSpPr/>
          <p:nvPr/>
        </p:nvSpPr>
        <p:spPr>
          <a:xfrm>
            <a:off x="1531620" y="5074920"/>
            <a:ext cx="1005840" cy="365760"/>
          </a:xfrm>
          <a:prstGeom prst="ellipse">
            <a:avLst/>
          </a:prstGeom>
          <a:solidFill>
            <a:srgbClr val="DCE7EF"/>
          </a:solidFill>
          <a:ln w="12700">
            <a:solidFill>
              <a:srgbClr val="3E6C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21"/>
          <p:cNvSpPr txBox="1"/>
          <p:nvPr/>
        </p:nvSpPr>
        <p:spPr>
          <a:xfrm>
            <a:off x="1531620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pt-BR" sz="900" dirty="0"/>
          </a:p>
        </p:txBody>
      </p:sp>
      <p:sp>
        <p:nvSpPr>
          <p:cNvPr id="22" name="Line 22"/>
          <p:cNvSpPr/>
          <p:nvPr/>
        </p:nvSpPr>
        <p:spPr>
          <a:xfrm>
            <a:off x="4064508" y="3886200"/>
            <a:ext cx="0" cy="27432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3"/>
          <p:cNvSpPr/>
          <p:nvPr/>
        </p:nvSpPr>
        <p:spPr>
          <a:xfrm>
            <a:off x="3150108" y="41605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4"/>
          <p:cNvSpPr txBox="1"/>
          <p:nvPr/>
        </p:nvSpPr>
        <p:spPr>
          <a:xfrm>
            <a:off x="3195828" y="41879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estacionamento-</a:t>
            </a:r>
            <a:endParaRPr lang="pt-BR" sz="1050" dirty="0"/>
          </a:p>
          <a:p>
            <a:pPr marL="0" indent="0" algn="ctr">
              <a:buNone/>
            </a:pPr>
            <a:r>
              <a:rPr lang="pt-BR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(:3002)</a:t>
            </a:r>
            <a:endParaRPr lang="pt-BR" sz="1050" dirty="0"/>
          </a:p>
        </p:txBody>
      </p:sp>
      <p:sp>
        <p:nvSpPr>
          <p:cNvPr id="25" name="Text 25"/>
          <p:cNvSpPr txBox="1"/>
          <p:nvPr/>
        </p:nvSpPr>
        <p:spPr>
          <a:xfrm>
            <a:off x="3195828" y="4553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8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 saída</a:t>
            </a:r>
            <a:endParaRPr lang="pt-BR" sz="850" dirty="0"/>
          </a:p>
        </p:txBody>
      </p:sp>
      <p:sp>
        <p:nvSpPr>
          <p:cNvPr id="26" name="Line 26"/>
          <p:cNvSpPr/>
          <p:nvPr/>
        </p:nvSpPr>
        <p:spPr>
          <a:xfrm>
            <a:off x="4064508" y="4846320"/>
            <a:ext cx="0" cy="228600"/>
          </a:xfrm>
          <a:prstGeom prst="line">
            <a:avLst/>
          </a:prstGeom>
          <a:noFill/>
          <a:ln w="15875">
            <a:solidFill>
              <a:srgbClr val="8A93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7"/>
          <p:cNvSpPr/>
          <p:nvPr/>
        </p:nvSpPr>
        <p:spPr>
          <a:xfrm>
            <a:off x="3561588" y="5074920"/>
            <a:ext cx="1005840" cy="365760"/>
          </a:xfrm>
          <a:prstGeom prst="ellipse">
            <a:avLst/>
          </a:prstGeom>
          <a:solidFill>
            <a:srgbClr val="DCE7EF"/>
          </a:solidFill>
          <a:ln w="12700">
            <a:solidFill>
              <a:srgbClr val="3E6C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8"/>
          <p:cNvSpPr txBox="1"/>
          <p:nvPr/>
        </p:nvSpPr>
        <p:spPr>
          <a:xfrm>
            <a:off x="3561588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pt-BR" sz="900" dirty="0"/>
          </a:p>
        </p:txBody>
      </p:sp>
      <p:sp>
        <p:nvSpPr>
          <p:cNvPr id="29" name="Line 29"/>
          <p:cNvSpPr/>
          <p:nvPr/>
        </p:nvSpPr>
        <p:spPr>
          <a:xfrm>
            <a:off x="6094476" y="3886200"/>
            <a:ext cx="0" cy="27432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30"/>
          <p:cNvSpPr/>
          <p:nvPr/>
        </p:nvSpPr>
        <p:spPr>
          <a:xfrm>
            <a:off x="5180076" y="41605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31"/>
          <p:cNvSpPr txBox="1"/>
          <p:nvPr/>
        </p:nvSpPr>
        <p:spPr>
          <a:xfrm>
            <a:off x="5225796" y="41879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mensalista-</a:t>
            </a:r>
            <a:endParaRPr lang="pt-BR" sz="1050" dirty="0"/>
          </a:p>
          <a:p>
            <a:pPr marL="0" indent="0" algn="ctr">
              <a:buNone/>
            </a:pPr>
            <a:r>
              <a:rPr lang="pt-BR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(:3003)</a:t>
            </a:r>
            <a:endParaRPr lang="pt-BR" sz="1050" dirty="0"/>
          </a:p>
        </p:txBody>
      </p:sp>
      <p:sp>
        <p:nvSpPr>
          <p:cNvPr id="32" name="Text 32"/>
          <p:cNvSpPr txBox="1"/>
          <p:nvPr/>
        </p:nvSpPr>
        <p:spPr>
          <a:xfrm>
            <a:off x="5225796" y="4553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8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status</a:t>
            </a:r>
            <a:endParaRPr lang="pt-BR" sz="850" dirty="0"/>
          </a:p>
        </p:txBody>
      </p:sp>
      <p:sp>
        <p:nvSpPr>
          <p:cNvPr id="33" name="Line 33"/>
          <p:cNvSpPr/>
          <p:nvPr/>
        </p:nvSpPr>
        <p:spPr>
          <a:xfrm>
            <a:off x="6094476" y="4846320"/>
            <a:ext cx="0" cy="228600"/>
          </a:xfrm>
          <a:prstGeom prst="line">
            <a:avLst/>
          </a:prstGeom>
          <a:noFill/>
          <a:ln w="15875">
            <a:solidFill>
              <a:srgbClr val="8A93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4"/>
          <p:cNvSpPr/>
          <p:nvPr/>
        </p:nvSpPr>
        <p:spPr>
          <a:xfrm>
            <a:off x="5591556" y="5074920"/>
            <a:ext cx="1005840" cy="365760"/>
          </a:xfrm>
          <a:prstGeom prst="ellipse">
            <a:avLst/>
          </a:prstGeom>
          <a:solidFill>
            <a:srgbClr val="DCE7EF"/>
          </a:solidFill>
          <a:ln w="12700">
            <a:solidFill>
              <a:srgbClr val="3E6C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5"/>
          <p:cNvSpPr txBox="1"/>
          <p:nvPr/>
        </p:nvSpPr>
        <p:spPr>
          <a:xfrm>
            <a:off x="5591556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pt-BR" sz="900" dirty="0"/>
          </a:p>
        </p:txBody>
      </p:sp>
      <p:sp>
        <p:nvSpPr>
          <p:cNvPr id="36" name="Line 36"/>
          <p:cNvSpPr/>
          <p:nvPr/>
        </p:nvSpPr>
        <p:spPr>
          <a:xfrm>
            <a:off x="8124444" y="3886200"/>
            <a:ext cx="0" cy="27432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7"/>
          <p:cNvSpPr/>
          <p:nvPr/>
        </p:nvSpPr>
        <p:spPr>
          <a:xfrm>
            <a:off x="7210044" y="41605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8"/>
          <p:cNvSpPr txBox="1"/>
          <p:nvPr/>
        </p:nvSpPr>
        <p:spPr>
          <a:xfrm>
            <a:off x="7255764" y="41879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pagamento-</a:t>
            </a:r>
            <a:endParaRPr lang="pt-BR" sz="1050" dirty="0"/>
          </a:p>
          <a:p>
            <a:pPr marL="0" indent="0" algn="ctr">
              <a:buNone/>
            </a:pPr>
            <a:r>
              <a:rPr lang="pt-BR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(:3004)</a:t>
            </a:r>
            <a:endParaRPr lang="pt-BR" sz="1050" dirty="0"/>
          </a:p>
        </p:txBody>
      </p:sp>
      <p:sp>
        <p:nvSpPr>
          <p:cNvPr id="39" name="Text 39"/>
          <p:cNvSpPr txBox="1"/>
          <p:nvPr/>
        </p:nvSpPr>
        <p:spPr>
          <a:xfrm>
            <a:off x="7255764" y="4553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8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tarifa, PIX e troco</a:t>
            </a:r>
            <a:endParaRPr lang="pt-BR" sz="850" dirty="0"/>
          </a:p>
        </p:txBody>
      </p:sp>
      <p:sp>
        <p:nvSpPr>
          <p:cNvPr id="40" name="Line 40"/>
          <p:cNvSpPr/>
          <p:nvPr/>
        </p:nvSpPr>
        <p:spPr>
          <a:xfrm>
            <a:off x="8124444" y="4846320"/>
            <a:ext cx="0" cy="228600"/>
          </a:xfrm>
          <a:prstGeom prst="line">
            <a:avLst/>
          </a:prstGeom>
          <a:noFill/>
          <a:ln w="15875">
            <a:solidFill>
              <a:srgbClr val="8A93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41"/>
          <p:cNvSpPr/>
          <p:nvPr/>
        </p:nvSpPr>
        <p:spPr>
          <a:xfrm>
            <a:off x="7621524" y="5074920"/>
            <a:ext cx="1005840" cy="365760"/>
          </a:xfrm>
          <a:prstGeom prst="ellipse">
            <a:avLst/>
          </a:prstGeom>
          <a:solidFill>
            <a:srgbClr val="DCE7EF"/>
          </a:solidFill>
          <a:ln w="12700">
            <a:solidFill>
              <a:srgbClr val="3E6C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2"/>
          <p:cNvSpPr txBox="1"/>
          <p:nvPr/>
        </p:nvSpPr>
        <p:spPr>
          <a:xfrm>
            <a:off x="7621524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pt-BR" sz="900" dirty="0"/>
          </a:p>
        </p:txBody>
      </p:sp>
      <p:sp>
        <p:nvSpPr>
          <p:cNvPr id="43" name="Line 43"/>
          <p:cNvSpPr/>
          <p:nvPr/>
        </p:nvSpPr>
        <p:spPr>
          <a:xfrm>
            <a:off x="10154412" y="3886200"/>
            <a:ext cx="0" cy="27432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4"/>
          <p:cNvSpPr/>
          <p:nvPr/>
        </p:nvSpPr>
        <p:spPr>
          <a:xfrm>
            <a:off x="9240012" y="41605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5"/>
          <p:cNvSpPr txBox="1"/>
          <p:nvPr/>
        </p:nvSpPr>
        <p:spPr>
          <a:xfrm>
            <a:off x="9285732" y="41879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t-BR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vaga-service</a:t>
            </a:r>
            <a:endParaRPr lang="pt-BR" sz="1050" dirty="0"/>
          </a:p>
          <a:p>
            <a:pPr marL="0" indent="0" algn="ctr">
              <a:buNone/>
            </a:pPr>
            <a:r>
              <a:rPr lang="pt-BR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(:3005)</a:t>
            </a:r>
            <a:endParaRPr lang="pt-BR" sz="1050" dirty="0"/>
          </a:p>
        </p:txBody>
      </p:sp>
      <p:sp>
        <p:nvSpPr>
          <p:cNvPr id="46" name="Text 46"/>
          <p:cNvSpPr txBox="1"/>
          <p:nvPr/>
        </p:nvSpPr>
        <p:spPr>
          <a:xfrm>
            <a:off x="9285732" y="4553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8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 ocupação</a:t>
            </a:r>
            <a:endParaRPr lang="pt-BR" sz="850" dirty="0"/>
          </a:p>
        </p:txBody>
      </p:sp>
      <p:sp>
        <p:nvSpPr>
          <p:cNvPr id="47" name="Line 47"/>
          <p:cNvSpPr/>
          <p:nvPr/>
        </p:nvSpPr>
        <p:spPr>
          <a:xfrm>
            <a:off x="10154412" y="4846320"/>
            <a:ext cx="0" cy="228600"/>
          </a:xfrm>
          <a:prstGeom prst="line">
            <a:avLst/>
          </a:prstGeom>
          <a:noFill/>
          <a:ln w="15875">
            <a:solidFill>
              <a:srgbClr val="8A93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8"/>
          <p:cNvSpPr/>
          <p:nvPr/>
        </p:nvSpPr>
        <p:spPr>
          <a:xfrm>
            <a:off x="9651492" y="5074920"/>
            <a:ext cx="1005840" cy="365760"/>
          </a:xfrm>
          <a:prstGeom prst="ellipse">
            <a:avLst/>
          </a:prstGeom>
          <a:solidFill>
            <a:srgbClr val="DCE7EF"/>
          </a:solidFill>
          <a:ln w="12700">
            <a:solidFill>
              <a:srgbClr val="3E6C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9"/>
          <p:cNvSpPr txBox="1"/>
          <p:nvPr/>
        </p:nvSpPr>
        <p:spPr>
          <a:xfrm>
            <a:off x="9651492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pt-BR" sz="900" dirty="0"/>
          </a:p>
        </p:txBody>
      </p:sp>
      <p:sp>
        <p:nvSpPr>
          <p:cNvPr id="80" name="Shape 80"/>
          <p:cNvSpPr/>
          <p:nvPr/>
        </p:nvSpPr>
        <p:spPr>
          <a:xfrm>
            <a:off x="3100000" y="5806440"/>
            <a:ext cx="6000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F2A93B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81" name="Text 81"/>
          <p:cNvSpPr txBox="1"/>
          <p:nvPr/>
        </p:nvSpPr>
        <p:spPr>
          <a:xfrm>
            <a:off x="3100000" y="5806440"/>
            <a:ext cx="60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isolados conversando por HTTP + Prontos para IoT na Fase 2</a:t>
            </a:r>
            <a:endParaRPr lang="pt-BR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— FASE 1 (MVP CONCLUÍDO)</a:t>
            </a:r>
            <a:endParaRPr lang="pt-BR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e Saída: Como Funciona Hoje no Sistema</a:t>
            </a:r>
            <a:endParaRPr lang="pt-BR" sz="3000" dirty="0"/>
          </a:p>
        </p:txBody>
      </p:sp>
      <p:sp>
        <p:nvSpPr>
          <p:cNvPr id="90" name="Text 90"/>
          <p:cNvSpPr txBox="1"/>
          <p:nvPr/>
        </p:nvSpPr>
        <p:spPr>
          <a:xfrm>
            <a:off x="457200" y="6473952"/>
            <a:ext cx="5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Service Parking</a:t>
            </a:r>
            <a:endParaRPr lang="pt-BR" sz="900" dirty="0"/>
          </a:p>
        </p:txBody>
      </p:sp>
      <p:sp>
        <p:nvSpPr>
          <p:cNvPr id="91" name="Text 9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900" dirty="0"/>
          </a:p>
        </p:txBody>
      </p:sp>
      <p:sp>
        <p:nvSpPr>
          <p:cNvPr id="10" name="Text 10"/>
          <p:cNvSpPr txBox="1"/>
          <p:nvPr/>
        </p:nvSpPr>
        <p:spPr>
          <a:xfrm>
            <a:off x="54864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</a:t>
            </a:r>
            <a:endParaRPr lang="pt-BR" sz="1400" dirty="0"/>
          </a:p>
        </p:txBody>
      </p:sp>
      <p:sp>
        <p:nvSpPr>
          <p:cNvPr id="11" name="Shape 11"/>
          <p:cNvSpPr/>
          <p:nvPr/>
        </p:nvSpPr>
        <p:spPr>
          <a:xfrm>
            <a:off x="2697480" y="16916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2"/>
          <p:cNvSpPr txBox="1"/>
          <p:nvPr/>
        </p:nvSpPr>
        <p:spPr>
          <a:xfrm>
            <a:off x="2788920" y="1691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Atendente digita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placa do carro</a:t>
            </a:r>
            <a:endParaRPr lang="pt-BR" sz="950" dirty="0"/>
          </a:p>
        </p:txBody>
      </p:sp>
      <p:sp>
        <p:nvSpPr>
          <p:cNvPr id="13" name="Line 13"/>
          <p:cNvSpPr/>
          <p:nvPr/>
        </p:nvSpPr>
        <p:spPr>
          <a:xfrm>
            <a:off x="4389120" y="208026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4"/>
          <p:cNvSpPr/>
          <p:nvPr/>
        </p:nvSpPr>
        <p:spPr>
          <a:xfrm>
            <a:off x="4553712" y="16916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5"/>
          <p:cNvSpPr txBox="1"/>
          <p:nvPr/>
        </p:nvSpPr>
        <p:spPr>
          <a:xfrm>
            <a:off x="4645152" y="1691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a vaga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mapa visual</a:t>
            </a:r>
            <a:endParaRPr lang="pt-BR" sz="950" dirty="0"/>
          </a:p>
        </p:txBody>
      </p:sp>
      <p:sp>
        <p:nvSpPr>
          <p:cNvPr id="16" name="Line 16"/>
          <p:cNvSpPr/>
          <p:nvPr/>
        </p:nvSpPr>
        <p:spPr>
          <a:xfrm>
            <a:off x="6245352" y="208026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7"/>
          <p:cNvSpPr/>
          <p:nvPr/>
        </p:nvSpPr>
        <p:spPr>
          <a:xfrm>
            <a:off x="6409944" y="16916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8"/>
          <p:cNvSpPr txBox="1"/>
          <p:nvPr/>
        </p:nvSpPr>
        <p:spPr>
          <a:xfrm>
            <a:off x="6501384" y="1691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checa se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mensalista</a:t>
            </a:r>
            <a:endParaRPr lang="pt-BR" sz="950" dirty="0"/>
          </a:p>
        </p:txBody>
      </p:sp>
      <p:sp>
        <p:nvSpPr>
          <p:cNvPr id="19" name="Line 19"/>
          <p:cNvSpPr/>
          <p:nvPr/>
        </p:nvSpPr>
        <p:spPr>
          <a:xfrm>
            <a:off x="8101584" y="208026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20"/>
          <p:cNvSpPr/>
          <p:nvPr/>
        </p:nvSpPr>
        <p:spPr>
          <a:xfrm>
            <a:off x="8266176" y="16916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21"/>
          <p:cNvSpPr txBox="1"/>
          <p:nvPr/>
        </p:nvSpPr>
        <p:spPr>
          <a:xfrm>
            <a:off x="8357616" y="1691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entrada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ocupa a vaga</a:t>
            </a:r>
            <a:endParaRPr lang="pt-BR" sz="950" dirty="0"/>
          </a:p>
        </p:txBody>
      </p:sp>
      <p:sp>
        <p:nvSpPr>
          <p:cNvPr id="22" name="Line 22"/>
          <p:cNvSpPr/>
          <p:nvPr/>
        </p:nvSpPr>
        <p:spPr>
          <a:xfrm>
            <a:off x="9957816" y="208026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3"/>
          <p:cNvSpPr/>
          <p:nvPr/>
        </p:nvSpPr>
        <p:spPr>
          <a:xfrm>
            <a:off x="10122408" y="16916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4"/>
          <p:cNvSpPr txBox="1"/>
          <p:nvPr/>
        </p:nvSpPr>
        <p:spPr>
          <a:xfrm>
            <a:off x="10213848" y="1691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comprovante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abre cancela</a:t>
            </a:r>
            <a:endParaRPr lang="pt-BR" sz="950" dirty="0"/>
          </a:p>
        </p:txBody>
      </p:sp>
      <p:sp>
        <p:nvSpPr>
          <p:cNvPr id="40" name="Text 40"/>
          <p:cNvSpPr txBox="1"/>
          <p:nvPr/>
        </p:nvSpPr>
        <p:spPr>
          <a:xfrm>
            <a:off x="54864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</a:t>
            </a:r>
            <a:endParaRPr lang="pt-BR" sz="1400" dirty="0"/>
          </a:p>
        </p:txBody>
      </p:sp>
      <p:sp>
        <p:nvSpPr>
          <p:cNvPr id="41" name="Shape 41"/>
          <p:cNvSpPr/>
          <p:nvPr/>
        </p:nvSpPr>
        <p:spPr>
          <a:xfrm>
            <a:off x="2697480" y="28803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2"/>
          <p:cNvSpPr txBox="1"/>
          <p:nvPr/>
        </p:nvSpPr>
        <p:spPr>
          <a:xfrm>
            <a:off x="2788920" y="2880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Atendente busca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 no pátio</a:t>
            </a:r>
            <a:endParaRPr lang="pt-BR" sz="950" dirty="0"/>
          </a:p>
        </p:txBody>
      </p:sp>
      <p:sp>
        <p:nvSpPr>
          <p:cNvPr id="43" name="Line 43"/>
          <p:cNvSpPr/>
          <p:nvPr/>
        </p:nvSpPr>
        <p:spPr>
          <a:xfrm>
            <a:off x="4389120" y="326898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4"/>
          <p:cNvSpPr/>
          <p:nvPr/>
        </p:nvSpPr>
        <p:spPr>
          <a:xfrm>
            <a:off x="4553712" y="28803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5"/>
          <p:cNvSpPr txBox="1"/>
          <p:nvPr/>
        </p:nvSpPr>
        <p:spPr>
          <a:xfrm>
            <a:off x="4645152" y="2880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calcula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e valor</a:t>
            </a:r>
            <a:endParaRPr lang="pt-BR" sz="950" dirty="0"/>
          </a:p>
        </p:txBody>
      </p:sp>
      <p:sp>
        <p:nvSpPr>
          <p:cNvPr id="46" name="Line 46"/>
          <p:cNvSpPr/>
          <p:nvPr/>
        </p:nvSpPr>
        <p:spPr>
          <a:xfrm>
            <a:off x="6245352" y="326898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7"/>
          <p:cNvSpPr/>
          <p:nvPr/>
        </p:nvSpPr>
        <p:spPr>
          <a:xfrm>
            <a:off x="6409944" y="28803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8"/>
          <p:cNvSpPr txBox="1"/>
          <p:nvPr/>
        </p:nvSpPr>
        <p:spPr>
          <a:xfrm>
            <a:off x="6501384" y="2880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paga via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PIX, Cartão/Dinheiro</a:t>
            </a:r>
            <a:endParaRPr lang="pt-BR" sz="950" dirty="0"/>
          </a:p>
        </p:txBody>
      </p:sp>
      <p:sp>
        <p:nvSpPr>
          <p:cNvPr id="49" name="Line 49"/>
          <p:cNvSpPr/>
          <p:nvPr/>
        </p:nvSpPr>
        <p:spPr>
          <a:xfrm>
            <a:off x="8101584" y="326898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50"/>
          <p:cNvSpPr/>
          <p:nvPr/>
        </p:nvSpPr>
        <p:spPr>
          <a:xfrm>
            <a:off x="8266176" y="28803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51"/>
          <p:cNvSpPr txBox="1"/>
          <p:nvPr/>
        </p:nvSpPr>
        <p:spPr>
          <a:xfrm>
            <a:off x="8357616" y="2880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confirma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pagamento</a:t>
            </a:r>
            <a:endParaRPr lang="pt-BR" sz="950" dirty="0"/>
          </a:p>
        </p:txBody>
      </p:sp>
      <p:sp>
        <p:nvSpPr>
          <p:cNvPr id="52" name="Line 52"/>
          <p:cNvSpPr/>
          <p:nvPr/>
        </p:nvSpPr>
        <p:spPr>
          <a:xfrm>
            <a:off x="9957816" y="326898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3"/>
          <p:cNvSpPr/>
          <p:nvPr/>
        </p:nvSpPr>
        <p:spPr>
          <a:xfrm>
            <a:off x="10122408" y="28803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4"/>
          <p:cNvSpPr txBox="1"/>
          <p:nvPr/>
        </p:nvSpPr>
        <p:spPr>
          <a:xfrm>
            <a:off x="10213848" y="2880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cancela e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 a vaga</a:t>
            </a:r>
            <a:endParaRPr lang="pt-BR" sz="950" dirty="0"/>
          </a:p>
        </p:txBody>
      </p:sp>
      <p:sp>
        <p:nvSpPr>
          <p:cNvPr id="70" name="Shape 70"/>
          <p:cNvSpPr/>
          <p:nvPr/>
        </p:nvSpPr>
        <p:spPr>
          <a:xfrm>
            <a:off x="548640" y="411480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DCE7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71"/>
          <p:cNvSpPr txBox="1"/>
          <p:nvPr/>
        </p:nvSpPr>
        <p:spPr>
          <a:xfrm>
            <a:off x="868680" y="42976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evoluímos da N1 para a N2</a:t>
            </a:r>
            <a:endParaRPr lang="pt-BR" sz="1400" dirty="0"/>
          </a:p>
        </p:txBody>
      </p:sp>
      <p:sp>
        <p:nvSpPr>
          <p:cNvPr id="72" name="Text 72"/>
          <p:cNvSpPr txBox="1"/>
          <p:nvPr/>
        </p:nvSpPr>
        <p:spPr>
          <a:xfrm>
            <a:off x="868680" y="46634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spcAft>
                <a:spcPts val="750"/>
              </a:spcAft>
              <a:buSzPct val="100000"/>
              <a:buChar char="•"/>
            </a:pPr>
            <a:r>
              <a:rPr lang="pt-BR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mensalista resolvida: Em dia entra grátis; Inadimplente entra como rotativo com aviso; Bloqueado é barrado na hora.</a:t>
            </a:r>
            <a:endParaRPr lang="pt-BR" sz="1200" dirty="0"/>
          </a:p>
          <a:p>
            <a:pPr marL="285750" indent="-285750" algn="l">
              <a:spcAft>
                <a:spcPts val="750"/>
              </a:spcAft>
              <a:buSzPct val="100000"/>
              <a:buChar char="•"/>
            </a:pPr>
            <a:r>
              <a:rPr lang="pt-BR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real: Gera QR Code PIX válido (padrão Banco Central), valida Cartão e calcula troco em Dinheiro automaticamente.</a:t>
            </a:r>
            <a:endParaRPr lang="pt-BR" sz="1200" dirty="0"/>
          </a:p>
          <a:p>
            <a:pPr marL="285750" indent="-285750" algn="l">
              <a:spcAft>
                <a:spcPts val="750"/>
              </a:spcAft>
              <a:buSzPct val="100000"/>
              <a:buChar char="•"/>
            </a:pPr>
            <a:r>
              <a:rPr lang="pt-BR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 caixa integrados: Quando o carro sai, a vaga fica verde no mapa e o valor já soma no relatório do dia.</a:t>
            </a:r>
            <a:endParaRPr lang="pt-BR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— FASE 2 (AUTOMAÇÃO IOT)</a:t>
            </a:r>
            <a:endParaRPr lang="pt-BR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e Saída: Visão Automatizada com Arduino</a:t>
            </a:r>
            <a:endParaRPr lang="pt-BR" sz="3000" dirty="0"/>
          </a:p>
        </p:txBody>
      </p:sp>
      <p:sp>
        <p:nvSpPr>
          <p:cNvPr id="90" name="Text 90"/>
          <p:cNvSpPr txBox="1"/>
          <p:nvPr/>
        </p:nvSpPr>
        <p:spPr>
          <a:xfrm>
            <a:off x="457200" y="6473952"/>
            <a:ext cx="5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Service Parking</a:t>
            </a:r>
            <a:endParaRPr lang="pt-BR" sz="900" dirty="0"/>
          </a:p>
        </p:txBody>
      </p:sp>
      <p:sp>
        <p:nvSpPr>
          <p:cNvPr id="91" name="Text 9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9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 do projeto: conectar sensores físicos e cancelas direto nas rotas que já criamos.</a:t>
            </a:r>
            <a:endParaRPr lang="pt-BR" sz="1250" dirty="0"/>
          </a:p>
        </p:txBody>
      </p:sp>
      <p:sp>
        <p:nvSpPr>
          <p:cNvPr id="10" name="Text 10"/>
          <p:cNvSpPr txBox="1"/>
          <p:nvPr/>
        </p:nvSpPr>
        <p:spPr>
          <a:xfrm>
            <a:off x="54864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</a:t>
            </a:r>
            <a:endParaRPr lang="pt-BR" sz="1400" dirty="0"/>
          </a:p>
        </p:txBody>
      </p:sp>
      <p:sp>
        <p:nvSpPr>
          <p:cNvPr id="11" name="Shape 11"/>
          <p:cNvSpPr/>
          <p:nvPr/>
        </p:nvSpPr>
        <p:spPr>
          <a:xfrm>
            <a:off x="2697480" y="19202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2"/>
          <p:cNvSpPr txBox="1"/>
          <p:nvPr/>
        </p:nvSpPr>
        <p:spPr>
          <a:xfrm>
            <a:off x="2788920" y="19202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OCR / RFID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a placa sozinha</a:t>
            </a:r>
            <a:endParaRPr lang="pt-BR" sz="950" dirty="0"/>
          </a:p>
        </p:txBody>
      </p:sp>
      <p:sp>
        <p:nvSpPr>
          <p:cNvPr id="13" name="Line 13"/>
          <p:cNvSpPr/>
          <p:nvPr/>
        </p:nvSpPr>
        <p:spPr>
          <a:xfrm>
            <a:off x="4389120" y="230886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4"/>
          <p:cNvSpPr/>
          <p:nvPr/>
        </p:nvSpPr>
        <p:spPr>
          <a:xfrm>
            <a:off x="4553712" y="19202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5"/>
          <p:cNvSpPr txBox="1"/>
          <p:nvPr/>
        </p:nvSpPr>
        <p:spPr>
          <a:xfrm>
            <a:off x="4645152" y="19202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consulta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é mensalista</a:t>
            </a:r>
            <a:endParaRPr lang="pt-BR" sz="950" dirty="0"/>
          </a:p>
        </p:txBody>
      </p:sp>
      <p:sp>
        <p:nvSpPr>
          <p:cNvPr id="16" name="Line 16"/>
          <p:cNvSpPr/>
          <p:nvPr/>
        </p:nvSpPr>
        <p:spPr>
          <a:xfrm>
            <a:off x="6245352" y="230886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7"/>
          <p:cNvSpPr/>
          <p:nvPr/>
        </p:nvSpPr>
        <p:spPr>
          <a:xfrm>
            <a:off x="6409944" y="19202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8"/>
          <p:cNvSpPr txBox="1"/>
          <p:nvPr/>
        </p:nvSpPr>
        <p:spPr>
          <a:xfrm>
            <a:off x="6501384" y="19202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entrada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</a:t>
            </a:r>
            <a:endParaRPr lang="pt-BR" sz="950" dirty="0"/>
          </a:p>
        </p:txBody>
      </p:sp>
      <p:sp>
        <p:nvSpPr>
          <p:cNvPr id="19" name="Line 19"/>
          <p:cNvSpPr/>
          <p:nvPr/>
        </p:nvSpPr>
        <p:spPr>
          <a:xfrm>
            <a:off x="8101584" y="230886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20"/>
          <p:cNvSpPr/>
          <p:nvPr/>
        </p:nvSpPr>
        <p:spPr>
          <a:xfrm>
            <a:off x="8266176" y="19202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21"/>
          <p:cNvSpPr txBox="1"/>
          <p:nvPr/>
        </p:nvSpPr>
        <p:spPr>
          <a:xfrm>
            <a:off x="8357616" y="19202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confirma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 na faixa</a:t>
            </a:r>
            <a:endParaRPr lang="pt-BR" sz="950" dirty="0"/>
          </a:p>
        </p:txBody>
      </p:sp>
      <p:sp>
        <p:nvSpPr>
          <p:cNvPr id="22" name="Line 22"/>
          <p:cNvSpPr/>
          <p:nvPr/>
        </p:nvSpPr>
        <p:spPr>
          <a:xfrm>
            <a:off x="9957816" y="230886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3"/>
          <p:cNvSpPr/>
          <p:nvPr/>
        </p:nvSpPr>
        <p:spPr>
          <a:xfrm>
            <a:off x="10122408" y="19202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4"/>
          <p:cNvSpPr txBox="1"/>
          <p:nvPr/>
        </p:nvSpPr>
        <p:spPr>
          <a:xfrm>
            <a:off x="10213848" y="19202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abre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sozinha</a:t>
            </a:r>
            <a:endParaRPr lang="pt-BR" sz="950" dirty="0"/>
          </a:p>
        </p:txBody>
      </p:sp>
      <p:sp>
        <p:nvSpPr>
          <p:cNvPr id="40" name="Text 40"/>
          <p:cNvSpPr txBox="1"/>
          <p:nvPr/>
        </p:nvSpPr>
        <p:spPr>
          <a:xfrm>
            <a:off x="54864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</a:t>
            </a:r>
            <a:endParaRPr lang="pt-BR" sz="1400" dirty="0"/>
          </a:p>
        </p:txBody>
      </p:sp>
      <p:sp>
        <p:nvSpPr>
          <p:cNvPr id="41" name="Shape 41"/>
          <p:cNvSpPr/>
          <p:nvPr/>
        </p:nvSpPr>
        <p:spPr>
          <a:xfrm>
            <a:off x="2697480" y="31089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2"/>
          <p:cNvSpPr txBox="1"/>
          <p:nvPr/>
        </p:nvSpPr>
        <p:spPr>
          <a:xfrm>
            <a:off x="2788920" y="31089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Sensor/OCR lê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 na saída</a:t>
            </a:r>
            <a:endParaRPr lang="pt-BR" sz="950" dirty="0"/>
          </a:p>
        </p:txBody>
      </p:sp>
      <p:sp>
        <p:nvSpPr>
          <p:cNvPr id="43" name="Line 43"/>
          <p:cNvSpPr/>
          <p:nvPr/>
        </p:nvSpPr>
        <p:spPr>
          <a:xfrm>
            <a:off x="4389120" y="349758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4"/>
          <p:cNvSpPr/>
          <p:nvPr/>
        </p:nvSpPr>
        <p:spPr>
          <a:xfrm>
            <a:off x="4553712" y="31089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5"/>
          <p:cNvSpPr txBox="1"/>
          <p:nvPr/>
        </p:nvSpPr>
        <p:spPr>
          <a:xfrm>
            <a:off x="4645152" y="31089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estadia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calcula valor</a:t>
            </a:r>
            <a:endParaRPr lang="pt-BR" sz="950" dirty="0"/>
          </a:p>
        </p:txBody>
      </p:sp>
      <p:sp>
        <p:nvSpPr>
          <p:cNvPr id="46" name="Line 46"/>
          <p:cNvSpPr/>
          <p:nvPr/>
        </p:nvSpPr>
        <p:spPr>
          <a:xfrm>
            <a:off x="6245352" y="349758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7"/>
          <p:cNvSpPr/>
          <p:nvPr/>
        </p:nvSpPr>
        <p:spPr>
          <a:xfrm>
            <a:off x="6409944" y="31089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8"/>
          <p:cNvSpPr txBox="1"/>
          <p:nvPr/>
        </p:nvSpPr>
        <p:spPr>
          <a:xfrm>
            <a:off x="6501384" y="31089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automática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PIX no totem</a:t>
            </a:r>
            <a:endParaRPr lang="pt-BR" sz="950" dirty="0"/>
          </a:p>
        </p:txBody>
      </p:sp>
      <p:sp>
        <p:nvSpPr>
          <p:cNvPr id="49" name="Line 49"/>
          <p:cNvSpPr/>
          <p:nvPr/>
        </p:nvSpPr>
        <p:spPr>
          <a:xfrm>
            <a:off x="8101584" y="349758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50"/>
          <p:cNvSpPr/>
          <p:nvPr/>
        </p:nvSpPr>
        <p:spPr>
          <a:xfrm>
            <a:off x="8266176" y="31089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51"/>
          <p:cNvSpPr txBox="1"/>
          <p:nvPr/>
        </p:nvSpPr>
        <p:spPr>
          <a:xfrm>
            <a:off x="8357616" y="31089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atualiza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 como livre</a:t>
            </a:r>
            <a:endParaRPr lang="pt-BR" sz="950" dirty="0"/>
          </a:p>
        </p:txBody>
      </p:sp>
      <p:sp>
        <p:nvSpPr>
          <p:cNvPr id="52" name="Line 52"/>
          <p:cNvSpPr/>
          <p:nvPr/>
        </p:nvSpPr>
        <p:spPr>
          <a:xfrm>
            <a:off x="9957816" y="3497580"/>
            <a:ext cx="164592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3"/>
          <p:cNvSpPr/>
          <p:nvPr/>
        </p:nvSpPr>
        <p:spPr>
          <a:xfrm>
            <a:off x="10122408" y="31089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4"/>
          <p:cNvSpPr txBox="1"/>
          <p:nvPr/>
        </p:nvSpPr>
        <p:spPr>
          <a:xfrm>
            <a:off x="10213848" y="31089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pt-BR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abre e</a:t>
            </a:r>
            <a:endParaRPr lang="pt-BR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pt-BR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painel</a:t>
            </a:r>
            <a:endParaRPr lang="pt-BR" sz="950" dirty="0"/>
          </a:p>
        </p:txBody>
      </p:sp>
      <p:sp>
        <p:nvSpPr>
          <p:cNvPr id="70" name="Shape 70"/>
          <p:cNvSpPr/>
          <p:nvPr/>
        </p:nvSpPr>
        <p:spPr>
          <a:xfrm>
            <a:off x="548640" y="434340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DCE7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71"/>
          <p:cNvSpPr txBox="1"/>
          <p:nvPr/>
        </p:nvSpPr>
        <p:spPr>
          <a:xfrm>
            <a:off x="868680" y="45262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Peças mapeadas para a maquete (ESP32 / Arduino)</a:t>
            </a:r>
            <a:endParaRPr lang="pt-BR" sz="1400" dirty="0"/>
          </a:p>
        </p:txBody>
      </p:sp>
      <p:sp>
        <p:nvSpPr>
          <p:cNvPr id="72" name="Text 72"/>
          <p:cNvSpPr txBox="1"/>
          <p:nvPr/>
        </p:nvSpPr>
        <p:spPr>
          <a:xfrm>
            <a:off x="868680" y="48920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spcAft>
                <a:spcPts val="800"/>
              </a:spcAft>
              <a:buSzPct val="100000"/>
              <a:buChar char="•"/>
            </a:pPr>
            <a:r>
              <a:rPr lang="pt-BR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ultrassônicos (HC-SR04) em cada vaga avisando o sistema quando um carro estaciona ou sai.</a:t>
            </a:r>
            <a:endParaRPr lang="pt-BR" sz="1200" dirty="0"/>
          </a:p>
          <a:p>
            <a:pPr marL="285750" indent="-285750" algn="l">
              <a:spcAft>
                <a:spcPts val="800"/>
              </a:spcAft>
              <a:buSzPct val="100000"/>
              <a:buChar char="•"/>
            </a:pPr>
            <a:r>
              <a:rPr lang="pt-BR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Leitor de cartão RFID (RC522), micro servos (SG90) para levantar as cancelas e telinha LCD mostrando vagas livres.</a:t>
            </a:r>
            <a:endParaRPr lang="pt-BR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</a:t>
            </a:r>
            <a:endParaRPr lang="pt-BR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de Tarifa, Carência e Pagamento</a:t>
            </a:r>
            <a:endParaRPr lang="pt-BR" sz="3000" dirty="0"/>
          </a:p>
        </p:txBody>
      </p:sp>
      <p:sp>
        <p:nvSpPr>
          <p:cNvPr id="90" name="Text 90"/>
          <p:cNvSpPr txBox="1"/>
          <p:nvPr/>
        </p:nvSpPr>
        <p:spPr>
          <a:xfrm>
            <a:off x="457200" y="6473952"/>
            <a:ext cx="5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Service Parking</a:t>
            </a:r>
            <a:endParaRPr lang="pt-BR" sz="900" dirty="0"/>
          </a:p>
        </p:txBody>
      </p:sp>
      <p:sp>
        <p:nvSpPr>
          <p:cNvPr id="91" name="Text 9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900" dirty="0"/>
          </a:p>
        </p:txBody>
      </p:sp>
      <p:sp>
        <p:nvSpPr>
          <p:cNvPr id="10" name="Shape 10"/>
          <p:cNvSpPr/>
          <p:nvPr/>
        </p:nvSpPr>
        <p:spPr>
          <a:xfrm>
            <a:off x="644652" y="192024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11"/>
          <p:cNvSpPr txBox="1"/>
          <p:nvPr/>
        </p:nvSpPr>
        <p:spPr>
          <a:xfrm>
            <a:off x="644652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400" b="1" dirty="0">
                <a:solidFill>
                  <a:srgbClr val="3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pt-BR" sz="3400" dirty="0"/>
          </a:p>
        </p:txBody>
      </p:sp>
      <p:sp>
        <p:nvSpPr>
          <p:cNvPr id="12" name="Text 12"/>
          <p:cNvSpPr txBox="1"/>
          <p:nvPr/>
        </p:nvSpPr>
        <p:spPr>
          <a:xfrm>
            <a:off x="827532" y="3108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pt-BR" sz="12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Carência isenta de cobrança</a:t>
            </a:r>
            <a:endParaRPr lang="pt-BR" sz="1200" dirty="0"/>
          </a:p>
        </p:txBody>
      </p:sp>
      <p:sp>
        <p:nvSpPr>
          <p:cNvPr id="13" name="Shape 13"/>
          <p:cNvSpPr/>
          <p:nvPr/>
        </p:nvSpPr>
        <p:spPr>
          <a:xfrm>
            <a:off x="3424428" y="192024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4"/>
          <p:cNvSpPr txBox="1"/>
          <p:nvPr/>
        </p:nvSpPr>
        <p:spPr>
          <a:xfrm>
            <a:off x="3424428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400" b="1" dirty="0">
                <a:solidFill>
                  <a:srgbClr val="3E6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R$ 10</a:t>
            </a:r>
            <a:endParaRPr lang="pt-BR" sz="3400" dirty="0"/>
          </a:p>
        </p:txBody>
      </p:sp>
      <p:sp>
        <p:nvSpPr>
          <p:cNvPr id="15" name="Text 15"/>
          <p:cNvSpPr txBox="1"/>
          <p:nvPr/>
        </p:nvSpPr>
        <p:spPr>
          <a:xfrm>
            <a:off x="3607308" y="3108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pt-BR" sz="12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da primeira hora</a:t>
            </a:r>
            <a:endParaRPr lang="pt-BR" sz="1200" dirty="0"/>
          </a:p>
        </p:txBody>
      </p:sp>
      <p:sp>
        <p:nvSpPr>
          <p:cNvPr id="16" name="Shape 16"/>
          <p:cNvSpPr/>
          <p:nvPr/>
        </p:nvSpPr>
        <p:spPr>
          <a:xfrm>
            <a:off x="6204204" y="192024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7"/>
          <p:cNvSpPr txBox="1"/>
          <p:nvPr/>
        </p:nvSpPr>
        <p:spPr>
          <a:xfrm>
            <a:off x="6204204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400" b="1" dirty="0">
                <a:solidFill>
                  <a:srgbClr val="3E6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</a:t>
            </a:r>
            <a:endParaRPr lang="pt-BR" sz="3400" dirty="0"/>
          </a:p>
        </p:txBody>
      </p:sp>
      <p:sp>
        <p:nvSpPr>
          <p:cNvPr id="18" name="Text 18"/>
          <p:cNvSpPr txBox="1"/>
          <p:nvPr/>
        </p:nvSpPr>
        <p:spPr>
          <a:xfrm>
            <a:off x="6387084" y="3108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pt-BR" sz="12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hora seguinte</a:t>
            </a:r>
            <a:endParaRPr lang="pt-BR" sz="1200" dirty="0"/>
          </a:p>
        </p:txBody>
      </p:sp>
      <p:sp>
        <p:nvSpPr>
          <p:cNvPr id="19" name="Shape 19"/>
          <p:cNvSpPr/>
          <p:nvPr/>
        </p:nvSpPr>
        <p:spPr>
          <a:xfrm>
            <a:off x="8983980" y="192024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20"/>
          <p:cNvSpPr txBox="1"/>
          <p:nvPr/>
        </p:nvSpPr>
        <p:spPr>
          <a:xfrm>
            <a:off x="898398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R$ 200</a:t>
            </a:r>
            <a:endParaRPr lang="pt-BR" sz="3400" dirty="0"/>
          </a:p>
        </p:txBody>
      </p:sp>
      <p:sp>
        <p:nvSpPr>
          <p:cNvPr id="21" name="Text 21"/>
          <p:cNvSpPr txBox="1"/>
          <p:nvPr/>
        </p:nvSpPr>
        <p:spPr>
          <a:xfrm>
            <a:off x="9166860" y="3108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pt-BR" sz="12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 do mensalista</a:t>
            </a:r>
            <a:endParaRPr lang="pt-BR" sz="1200" dirty="0"/>
          </a:p>
        </p:txBody>
      </p:sp>
      <p:sp>
        <p:nvSpPr>
          <p:cNvPr id="40" name="Shape 40"/>
          <p:cNvSpPr/>
          <p:nvPr/>
        </p:nvSpPr>
        <p:spPr>
          <a:xfrm>
            <a:off x="548640" y="4251960"/>
            <a:ext cx="11064240" cy="1650000"/>
          </a:xfrm>
          <a:prstGeom prst="roundRect">
            <a:avLst>
              <a:gd name="adj" fmla="val 4848"/>
            </a:avLst>
          </a:prstGeom>
          <a:solidFill>
            <a:srgbClr val="DCE7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41"/>
          <p:cNvSpPr txBox="1"/>
          <p:nvPr/>
        </p:nvSpPr>
        <p:spPr>
          <a:xfrm>
            <a:off x="868680" y="4450000"/>
            <a:ext cx="10424160" cy="1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spcAft>
                <a:spcPts val="700"/>
              </a:spcAft>
              <a:buSzPct val="100000"/>
              <a:buChar char="•"/>
            </a:pPr>
            <a:r>
              <a:rPr lang="pt-BR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cálculo financeiro fica protegido no back-end (pagamento-service) — o front-end nunca calcula valores sozinho.</a:t>
            </a:r>
            <a:endParaRPr lang="pt-BR" sz="1250" dirty="0"/>
          </a:p>
          <a:p>
            <a:pPr marL="285750" indent="-285750" algn="l">
              <a:spcAft>
                <a:spcPts val="700"/>
              </a:spcAft>
              <a:buSzPct val="100000"/>
              <a:buChar char="•"/>
            </a:pPr>
            <a:r>
              <a:rPr lang="pt-BR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troca fácil de tabela (Padrão R$ 8/h, Diferenciada R$ 10 + R$ 5/h ou Pernoite R$ 35) e pagamento via PIX, Cartão ou Dinheiro.</a:t>
            </a:r>
            <a:endParaRPr lang="pt-BR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CÓDIGO — ENTREGA N2</a:t>
            </a:r>
            <a:endParaRPr lang="pt-BR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S.O.L.I.D. Aplicados no Projeto</a:t>
            </a:r>
            <a:endParaRPr lang="pt-BR" sz="3000" dirty="0"/>
          </a:p>
        </p:txBody>
      </p:sp>
      <p:sp>
        <p:nvSpPr>
          <p:cNvPr id="90" name="Text 90"/>
          <p:cNvSpPr txBox="1"/>
          <p:nvPr/>
        </p:nvSpPr>
        <p:spPr>
          <a:xfrm>
            <a:off x="457200" y="6473952"/>
            <a:ext cx="5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Service Parking</a:t>
            </a:r>
            <a:endParaRPr lang="pt-BR" sz="900" dirty="0"/>
          </a:p>
        </p:txBody>
      </p:sp>
      <p:sp>
        <p:nvSpPr>
          <p:cNvPr id="91" name="Text 9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900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48640" y="1380000"/>
          <a:ext cx="11064240" cy="4450000"/>
        </p:xfrm>
        <a:graphic>
          <a:graphicData uri="http://schemas.openxmlformats.org/drawingml/2006/table">
            <a:tbl>
              <a:tblPr/>
              <a:tblGrid>
                <a:gridCol w="2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0000"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Princípio</a:t>
                      </a:r>
                      <a:endParaRPr lang="pt-BR" sz="120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significa na prática</a:t>
                      </a:r>
                      <a:endParaRPr lang="pt-BR" sz="120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aplicamos no nosso código</a:t>
                      </a:r>
                      <a:endParaRPr lang="pt-BR" sz="120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16233F"/>
                    </a:solidFill>
                  </a:tcPr>
                </a:tc>
              </a:tr>
              <a:tr h="740000"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— Resp. Única (SRP)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classe faz apenas uma coisa bem feita.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Criamos calculadores separados para financeiro, vagas e validação de CPF.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740000"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— Aberto/Fechado (OCP)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regras novas sem mexer no código que já funciona.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Novas tarifas (Pernoite) e pagamentos (PIX, Cartão) usando Strategy.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</a:tr>
              <a:tr h="740000"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— Subst. de Liskov (LSP)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Peças do mesmo tipo podem ser trocadas sem erro.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 as tarifas e formas de pagamento devolvem o mesmo formato padrão.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740000"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— Segreg. Interface (ISP)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Ninguém depende de métodos que não usa.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 HTTP enxutos: estacionamento só consulta placa do mensalista.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</a:tr>
              <a:tr h="740000"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Inversão Depend. (DIP)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 de negócio não dependem direto de banco.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os Services recebem dependências prontas no construtor.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pt-BR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O Que Já Entregamos na N2</a:t>
            </a:r>
            <a:endParaRPr lang="pt-BR" sz="3000" dirty="0"/>
          </a:p>
        </p:txBody>
      </p:sp>
      <p:sp>
        <p:nvSpPr>
          <p:cNvPr id="90" name="Text 90"/>
          <p:cNvSpPr txBox="1"/>
          <p:nvPr/>
        </p:nvSpPr>
        <p:spPr>
          <a:xfrm>
            <a:off x="457200" y="6473952"/>
            <a:ext cx="5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Service Parking</a:t>
            </a:r>
            <a:endParaRPr lang="pt-BR" sz="900" dirty="0"/>
          </a:p>
        </p:txBody>
      </p:sp>
      <p:sp>
        <p:nvSpPr>
          <p:cNvPr id="91" name="Text 9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pt-BR" sz="900" dirty="0"/>
          </a:p>
        </p:txBody>
      </p:sp>
      <p:sp>
        <p:nvSpPr>
          <p:cNvPr id="10" name="Shape 10"/>
          <p:cNvSpPr/>
          <p:nvPr/>
        </p:nvSpPr>
        <p:spPr>
          <a:xfrm>
            <a:off x="694944" y="1691640"/>
            <a:ext cx="3429000" cy="1005840"/>
          </a:xfrm>
          <a:prstGeom prst="roundRect">
            <a:avLst>
              <a:gd name="adj" fmla="val 6364"/>
            </a:avLst>
          </a:prstGeom>
          <a:solidFill>
            <a:srgbClr val="2A3B60"/>
          </a:solidFill>
          <a:ln w="15875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11"/>
          <p:cNvSpPr txBox="1"/>
          <p:nvPr/>
        </p:nvSpPr>
        <p:spPr>
          <a:xfrm>
            <a:off x="844944" y="1691640"/>
            <a:ext cx="31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Preparação ✓</a:t>
            </a:r>
            <a:endParaRPr lang="pt-BR" sz="1250" dirty="0"/>
          </a:p>
        </p:txBody>
      </p:sp>
      <p:sp>
        <p:nvSpPr>
          <p:cNvPr id="12" name="Shape 12"/>
          <p:cNvSpPr/>
          <p:nvPr/>
        </p:nvSpPr>
        <p:spPr>
          <a:xfrm>
            <a:off x="4379976" y="1691640"/>
            <a:ext cx="3429000" cy="1005840"/>
          </a:xfrm>
          <a:prstGeom prst="roundRect">
            <a:avLst>
              <a:gd name="adj" fmla="val 6364"/>
            </a:avLst>
          </a:prstGeom>
          <a:solidFill>
            <a:srgbClr val="2A3B60"/>
          </a:solidFill>
          <a:ln w="15875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3"/>
          <p:cNvSpPr txBox="1"/>
          <p:nvPr/>
        </p:nvSpPr>
        <p:spPr>
          <a:xfrm>
            <a:off x="4529976" y="1691640"/>
            <a:ext cx="31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Autenticação ✓</a:t>
            </a:r>
            <a:endParaRPr lang="pt-BR" sz="1250" dirty="0"/>
          </a:p>
        </p:txBody>
      </p:sp>
      <p:sp>
        <p:nvSpPr>
          <p:cNvPr id="14" name="Shape 14"/>
          <p:cNvSpPr/>
          <p:nvPr/>
        </p:nvSpPr>
        <p:spPr>
          <a:xfrm>
            <a:off x="8065008" y="1691640"/>
            <a:ext cx="3429000" cy="1005840"/>
          </a:xfrm>
          <a:prstGeom prst="roundRect">
            <a:avLst>
              <a:gd name="adj" fmla="val 6364"/>
            </a:avLst>
          </a:prstGeom>
          <a:solidFill>
            <a:srgbClr val="2A3B60"/>
          </a:solidFill>
          <a:ln w="15875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5"/>
          <p:cNvSpPr txBox="1"/>
          <p:nvPr/>
        </p:nvSpPr>
        <p:spPr>
          <a:xfrm>
            <a:off x="8215008" y="1691640"/>
            <a:ext cx="31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Entrada ✓</a:t>
            </a:r>
            <a:endParaRPr lang="pt-BR" sz="1250" dirty="0"/>
          </a:p>
        </p:txBody>
      </p:sp>
      <p:sp>
        <p:nvSpPr>
          <p:cNvPr id="16" name="Shape 16"/>
          <p:cNvSpPr/>
          <p:nvPr/>
        </p:nvSpPr>
        <p:spPr>
          <a:xfrm>
            <a:off x="694944" y="2971800"/>
            <a:ext cx="3429000" cy="1005840"/>
          </a:xfrm>
          <a:prstGeom prst="roundRect">
            <a:avLst>
              <a:gd name="adj" fmla="val 6364"/>
            </a:avLst>
          </a:prstGeom>
          <a:solidFill>
            <a:srgbClr val="2A3B60"/>
          </a:solidFill>
          <a:ln w="15875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7"/>
          <p:cNvSpPr txBox="1"/>
          <p:nvPr/>
        </p:nvSpPr>
        <p:spPr>
          <a:xfrm>
            <a:off x="844944" y="2971800"/>
            <a:ext cx="31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Saída / Pagamento ✓</a:t>
            </a:r>
            <a:endParaRPr lang="pt-BR" sz="1250" dirty="0"/>
          </a:p>
        </p:txBody>
      </p:sp>
      <p:sp>
        <p:nvSpPr>
          <p:cNvPr id="18" name="Shape 18"/>
          <p:cNvSpPr/>
          <p:nvPr/>
        </p:nvSpPr>
        <p:spPr>
          <a:xfrm>
            <a:off x="4379976" y="2971800"/>
            <a:ext cx="3429000" cy="1005840"/>
          </a:xfrm>
          <a:prstGeom prst="roundRect">
            <a:avLst>
              <a:gd name="adj" fmla="val 6364"/>
            </a:avLst>
          </a:prstGeom>
          <a:solidFill>
            <a:srgbClr val="2A3B60"/>
          </a:solidFill>
          <a:ln w="15875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9"/>
          <p:cNvSpPr txBox="1"/>
          <p:nvPr/>
        </p:nvSpPr>
        <p:spPr>
          <a:xfrm>
            <a:off x="4529976" y="2971800"/>
            <a:ext cx="31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Mensalistas ✓</a:t>
            </a:r>
            <a:endParaRPr lang="pt-BR" sz="1250" dirty="0"/>
          </a:p>
        </p:txBody>
      </p:sp>
      <p:sp>
        <p:nvSpPr>
          <p:cNvPr id="20" name="Shape 20"/>
          <p:cNvSpPr/>
          <p:nvPr/>
        </p:nvSpPr>
        <p:spPr>
          <a:xfrm>
            <a:off x="8065008" y="2971800"/>
            <a:ext cx="3429000" cy="1005840"/>
          </a:xfrm>
          <a:prstGeom prst="roundRect">
            <a:avLst>
              <a:gd name="adj" fmla="val 6364"/>
            </a:avLst>
          </a:prstGeom>
          <a:solidFill>
            <a:srgbClr val="2A3B60"/>
          </a:solidFill>
          <a:ln w="15875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21"/>
          <p:cNvSpPr txBox="1"/>
          <p:nvPr/>
        </p:nvSpPr>
        <p:spPr>
          <a:xfrm>
            <a:off x="8215008" y="2971800"/>
            <a:ext cx="31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Vagas ✓</a:t>
            </a:r>
            <a:endParaRPr lang="pt-BR" sz="1250" dirty="0"/>
          </a:p>
        </p:txBody>
      </p:sp>
      <p:sp>
        <p:nvSpPr>
          <p:cNvPr id="22" name="Shape 22"/>
          <p:cNvSpPr/>
          <p:nvPr/>
        </p:nvSpPr>
        <p:spPr>
          <a:xfrm>
            <a:off x="694944" y="4251960"/>
            <a:ext cx="3429000" cy="1005840"/>
          </a:xfrm>
          <a:prstGeom prst="roundRect">
            <a:avLst>
              <a:gd name="adj" fmla="val 6364"/>
            </a:avLst>
          </a:prstGeom>
          <a:solidFill>
            <a:srgbClr val="2A3B60"/>
          </a:solidFill>
          <a:ln w="15875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3"/>
          <p:cNvSpPr txBox="1"/>
          <p:nvPr/>
        </p:nvSpPr>
        <p:spPr>
          <a:xfrm>
            <a:off x="844944" y="4251960"/>
            <a:ext cx="31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Relatórios PDF/Excel ✓</a:t>
            </a:r>
            <a:endParaRPr lang="pt-BR" sz="1250" dirty="0"/>
          </a:p>
        </p:txBody>
      </p:sp>
      <p:sp>
        <p:nvSpPr>
          <p:cNvPr id="24" name="Shape 24"/>
          <p:cNvSpPr/>
          <p:nvPr/>
        </p:nvSpPr>
        <p:spPr>
          <a:xfrm>
            <a:off x="4379976" y="4251960"/>
            <a:ext cx="3429000" cy="1005840"/>
          </a:xfrm>
          <a:prstGeom prst="roundRect">
            <a:avLst>
              <a:gd name="adj" fmla="val 6364"/>
            </a:avLst>
          </a:prstGeom>
          <a:solidFill>
            <a:srgbClr val="F2A93B"/>
          </a:solidFill>
          <a:ln w="15875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5"/>
          <p:cNvSpPr txBox="1"/>
          <p:nvPr/>
        </p:nvSpPr>
        <p:spPr>
          <a:xfrm>
            <a:off x="4529976" y="4251960"/>
            <a:ext cx="31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Qualidade &amp; S.O.L.I.D.</a:t>
            </a:r>
            <a:endParaRPr lang="pt-BR" sz="1250" dirty="0"/>
          </a:p>
        </p:txBody>
      </p:sp>
      <p:sp>
        <p:nvSpPr>
          <p:cNvPr id="26" name="Shape 26"/>
          <p:cNvSpPr/>
          <p:nvPr/>
        </p:nvSpPr>
        <p:spPr>
          <a:xfrm>
            <a:off x="8065008" y="4251960"/>
            <a:ext cx="3429000" cy="1005840"/>
          </a:xfrm>
          <a:prstGeom prst="roundRect">
            <a:avLst>
              <a:gd name="adj" fmla="val 6364"/>
            </a:avLst>
          </a:prstGeom>
          <a:solidFill>
            <a:srgbClr val="16233F"/>
          </a:solidFill>
          <a:ln w="15875">
            <a:solidFill>
              <a:srgbClr val="3E6C8E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7"/>
          <p:cNvSpPr txBox="1"/>
          <p:nvPr/>
        </p:nvSpPr>
        <p:spPr>
          <a:xfrm>
            <a:off x="8215008" y="4251960"/>
            <a:ext cx="31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Automação IoT (Fase 2)</a:t>
            </a:r>
            <a:endParaRPr lang="pt-BR" sz="1250" dirty="0"/>
          </a:p>
        </p:txBody>
      </p:sp>
      <p:sp>
        <p:nvSpPr>
          <p:cNvPr id="80" name="Text 80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5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0–7: 100% concluídas e funcionando na N2.   Etapa 8: Fase 2 (automação IoT com sensores e Arduino).</a:t>
            </a:r>
            <a:endParaRPr lang="pt-BR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200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pt-BR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Utilizadas no Desenvolvimento</a:t>
            </a:r>
            <a:endParaRPr lang="pt-BR" sz="3000" dirty="0"/>
          </a:p>
        </p:txBody>
      </p:sp>
      <p:sp>
        <p:nvSpPr>
          <p:cNvPr id="90" name="Text 90"/>
          <p:cNvSpPr txBox="1"/>
          <p:nvPr/>
        </p:nvSpPr>
        <p:spPr>
          <a:xfrm>
            <a:off x="457200" y="6473952"/>
            <a:ext cx="5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Service Parking</a:t>
            </a:r>
            <a:endParaRPr lang="pt-BR" sz="900" dirty="0"/>
          </a:p>
        </p:txBody>
      </p:sp>
      <p:sp>
        <p:nvSpPr>
          <p:cNvPr id="91" name="Text 9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pt-BR" sz="900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48640" y="1417320"/>
          <a:ext cx="11064240" cy="4160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</a:t>
                      </a:r>
                      <a:endParaRPr lang="pt-BR" sz="120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</a:t>
                      </a:r>
                      <a:endParaRPr lang="pt-BR" sz="120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 usamos no projeto</a:t>
                      </a:r>
                      <a:endParaRPr lang="pt-BR" sz="120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16233F"/>
                    </a:solidFill>
                  </a:tcPr>
                </a:tc>
              </a:tr>
              <a:tr h="594360"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Vue.js 3 + Pinia + Axios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Telas rápidas, mapa interativo de vagas e painel do atendente.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 + JWT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 de entrada única (:3000), segurança de login e roteamento.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</a:tr>
              <a:tr h="594360"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Microsserviços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 (S.O.L.I.D.)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serviços separados cuidando de cada parte do negócio.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Pagamentos &amp; Docs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qrcode + jsPDF + SheetJS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 QR Code PIX de verdade e exporta relatórios em PDF e Excel.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</a:tr>
              <a:tr h="594360"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Repositórios Isolados (DIP)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serviço guarda seus próprios dados sem misturar tabelas.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Execução &amp; Git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iniciar.js + Docker + Git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  <a:tc>
                  <a:txBody>
                    <a:bodyPr lIns="100000" rIns="100000" tIns="50000" bIns="50000"/>
                    <a:lstStyle/>
                    <a:p>
                      <a:pPr marL="0" indent="0">
                        <a:buNone/>
                      </a:pPr>
                      <a:r>
                        <a:rPr lang="pt-BR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 todo o sistema com 1 comando e organiza o código em equipe.</a:t>
                      </a:r>
                      <a:endParaRPr lang="pt-BR" sz="1150" dirty="0"/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</a:lnB>
                    <a:solidFill>
                      <a:srgbClr val="DCE7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A4680A4DC7C0A4D9F5E627DBBE3CA6E" ma:contentTypeVersion="10" ma:contentTypeDescription="Crie um novo documento." ma:contentTypeScope="" ma:versionID="6afe15d25e00626c980f3261406390f0">
  <xsd:schema xmlns:xsd="http://www.w3.org/2001/XMLSchema" xmlns:xs="http://www.w3.org/2001/XMLSchema" xmlns:p="http://schemas.microsoft.com/office/2006/metadata/properties" xmlns:ns2="c0cb77af-a6fb-4cf2-9441-ffbfd4dbb4c0" xmlns:ns3="1aafdd7f-f18a-40a8-9dca-355e1e28a42c" targetNamespace="http://schemas.microsoft.com/office/2006/metadata/properties" ma:root="true" ma:fieldsID="a41bbcefcb2b4ae43f914e3cd8753fd7" ns2:_="" ns3:_="">
    <xsd:import namespace="c0cb77af-a6fb-4cf2-9441-ffbfd4dbb4c0"/>
    <xsd:import namespace="1aafdd7f-f18a-40a8-9dca-355e1e28a42c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b77af-a6fb-4cf2-9441-ffbfd4dbb4c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Marcações de imagem" ma:readOnly="false" ma:fieldId="{5cf76f15-5ced-4ddc-b409-7134ff3c332f}" ma:taxonomyMulti="true" ma:sspId="9909241e-d01b-4a73-875a-5dc875fd71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afdd7f-f18a-40a8-9dca-355e1e28a42c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dbdd532-0388-4626-adab-0d86918bd1e4}" ma:internalName="TaxCatchAll" ma:showField="CatchAllData" ma:web="1aafdd7f-f18a-40a8-9dca-355e1e28a4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c0cb77af-a6fb-4cf2-9441-ffbfd4dbb4c0" xsi:nil="true"/>
    <lcf76f155ced4ddcb4097134ff3c332f xmlns="c0cb77af-a6fb-4cf2-9441-ffbfd4dbb4c0">
      <Terms xmlns="http://schemas.microsoft.com/office/infopath/2007/PartnerControls"/>
    </lcf76f155ced4ddcb4097134ff3c332f>
    <TaxCatchAll xmlns="1aafdd7f-f18a-40a8-9dca-355e1e28a42c" xsi:nil="true"/>
  </documentManagement>
</p:properties>
</file>

<file path=customXml/itemProps1.xml><?xml version="1.0" encoding="utf-8"?>
<ds:datastoreItem xmlns:ds="http://schemas.openxmlformats.org/officeDocument/2006/customXml" ds:itemID="{DBE115FB-F7EE-4409-BBCF-36BB58554018}"/>
</file>

<file path=customXml/itemProps2.xml><?xml version="1.0" encoding="utf-8"?>
<ds:datastoreItem xmlns:ds="http://schemas.openxmlformats.org/officeDocument/2006/customXml" ds:itemID="{BB143F2C-86D0-42D5-8846-6E133FD4C96E}"/>
</file>

<file path=customXml/itemProps3.xml><?xml version="1.0" encoding="utf-8"?>
<ds:datastoreItem xmlns:ds="http://schemas.openxmlformats.org/officeDocument/2006/customXml" ds:itemID="{34F5C592-2421-4DB6-93DB-EE07B159452B}"/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732</Words>
  <Application>Microsoft Office PowerPoint</Application>
  <PresentationFormat>Widescreen</PresentationFormat>
  <Paragraphs>175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YAN CARLOS FARIAS</cp:lastModifiedBy>
  <cp:revision>2</cp:revision>
  <dcterms:created xsi:type="dcterms:W3CDTF">2026-09-14T01:21:22Z</dcterms:created>
  <dcterms:modified xsi:type="dcterms:W3CDTF">2026-09-14T01:31:58Z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0x010100FA4680A4DC7C0A4D9F5E627DBBE3CA6E</vt:lpwstr>
  </property>
</Properties>
</file>